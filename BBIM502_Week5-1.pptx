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24"/>
  </p:notesMasterIdLst>
  <p:sldIdLst>
    <p:sldId id="792" r:id="rId2"/>
    <p:sldId id="860" r:id="rId3"/>
    <p:sldId id="853" r:id="rId4"/>
    <p:sldId id="258" r:id="rId5"/>
    <p:sldId id="259" r:id="rId6"/>
    <p:sldId id="854" r:id="rId7"/>
    <p:sldId id="261" r:id="rId8"/>
    <p:sldId id="876" r:id="rId9"/>
    <p:sldId id="873" r:id="rId10"/>
    <p:sldId id="877" r:id="rId11"/>
    <p:sldId id="878" r:id="rId12"/>
    <p:sldId id="879" r:id="rId13"/>
    <p:sldId id="880" r:id="rId14"/>
    <p:sldId id="264" r:id="rId15"/>
    <p:sldId id="861" r:id="rId16"/>
    <p:sldId id="862" r:id="rId17"/>
    <p:sldId id="864" r:id="rId18"/>
    <p:sldId id="865" r:id="rId19"/>
    <p:sldId id="866" r:id="rId20"/>
    <p:sldId id="868" r:id="rId21"/>
    <p:sldId id="882" r:id="rId22"/>
    <p:sldId id="88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5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EB76B-6FF9-456F-BC31-C01D38E3FA35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2DAD36-B8C9-4521-8117-00805B23CCFC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460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DAD36-B8C9-4521-8117-00805B23CCFC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48498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2DAD36-B8C9-4521-8117-00805B23CCFC}" type="slidenum">
              <a:rPr lang="en-NZ" smtClean="0"/>
              <a:t>21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32406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erson sitting at a desk using a computer">
            <a:extLst>
              <a:ext uri="{FF2B5EF4-FFF2-40B4-BE49-F238E27FC236}">
                <a16:creationId xmlns:a16="http://schemas.microsoft.com/office/drawing/2014/main" id="{FC2A0D9F-0CA2-EBC1-B73A-846AA6F0F1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8" b="107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1189AC9-91BA-FE5A-6A2D-125B582A45A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6A5B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6A90746-53C9-FC8F-4133-C225F7B93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4854" y="200025"/>
            <a:ext cx="1116174" cy="166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2F3B69-526A-4905-9043-79D64E4A3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935" y="1585028"/>
            <a:ext cx="4933950" cy="1392238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4AAC2-452C-425D-B59C-7AF90C32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935" y="3018114"/>
            <a:ext cx="4933950" cy="92797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B7FF-7763-4F82-993A-18DEFFCD3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D76A9-6DF6-4AEA-8E4D-F507D51C0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6141-92AB-4531-A6AA-3C4DCA3C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096B37AB-B577-DF93-D538-942F04D11469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CD888D4C-A1B1-4E65-336B-EDBB1831602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D7BF0653-2F61-1522-85B2-FF71E16C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09" y="5073284"/>
            <a:ext cx="1122282" cy="8728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960B90-AF81-6A41-BD10-235F1A29CFD0}"/>
              </a:ext>
            </a:extLst>
          </p:cNvPr>
          <p:cNvSpPr txBox="1"/>
          <p:nvPr/>
        </p:nvSpPr>
        <p:spPr>
          <a:xfrm>
            <a:off x="426284" y="5946170"/>
            <a:ext cx="5622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1" dirty="0">
                <a:solidFill>
                  <a:srgbClr val="FFFFFF"/>
                </a:solidFill>
                <a:effectLst/>
                <a:latin typeface="Poppins Thin" panose="00000300000000000000" pitchFamily="2" charset="0"/>
                <a:cs typeface="Poppins Thin" panose="00000300000000000000" pitchFamily="2" charset="0"/>
              </a:rPr>
              <a:t>Transforming lives through the power of learning.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456E4AE-3249-8A24-9397-012112CD566E}"/>
              </a:ext>
            </a:extLst>
          </p:cNvPr>
          <p:cNvSpPr txBox="1">
            <a:spLocks/>
          </p:cNvSpPr>
          <p:nvPr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34BF9330-75B0-7AEA-03FA-C1CAADC31EC5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/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1DF4FC9-C913-262C-BA0A-5CB4109985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3" y="121725"/>
            <a:ext cx="3082494" cy="139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8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6A5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E5E2B9-DBD9-5379-41CD-5AF7F5F44343}"/>
              </a:ext>
            </a:extLst>
          </p:cNvPr>
          <p:cNvSpPr/>
          <p:nvPr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956457-0B71-B3F6-15B3-E00C9DF93BC0}"/>
              </a:ext>
            </a:extLst>
          </p:cNvPr>
          <p:cNvSpPr/>
          <p:nvPr/>
        </p:nvSpPr>
        <p:spPr>
          <a:xfrm rot="5400000">
            <a:off x="6953168" y="1619168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rgbClr val="AEA6C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1B6FF-58E9-4D55-90E7-8FCFDDA61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2D96-7E5D-49CE-9587-7A650DE9A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  <a:lvl2pPr>
              <a:defRPr>
                <a:solidFill>
                  <a:srgbClr val="6A5BA8"/>
                </a:solidFill>
              </a:defRPr>
            </a:lvl2pPr>
            <a:lvl3pPr>
              <a:defRPr>
                <a:solidFill>
                  <a:srgbClr val="6A5BA8"/>
                </a:solidFill>
              </a:defRPr>
            </a:lvl3pPr>
            <a:lvl4pPr>
              <a:defRPr>
                <a:solidFill>
                  <a:srgbClr val="6A5BA8"/>
                </a:solidFill>
              </a:defRPr>
            </a:lvl4pPr>
            <a:lvl5pPr>
              <a:defRPr>
                <a:solidFill>
                  <a:srgbClr val="6A5BA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7BD16-8675-4B42-8332-FE0B33AF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37300"/>
            <a:ext cx="2743200" cy="365125"/>
          </a:xfrm>
        </p:spPr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DD177-83D3-45DF-9419-DBB92EC2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37300"/>
            <a:ext cx="4114800" cy="365125"/>
          </a:xfrm>
        </p:spPr>
        <p:txBody>
          <a:bodyPr/>
          <a:lstStyle>
            <a:lvl1pPr>
              <a:defRPr sz="1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E910C-DDCB-4765-A008-F8522626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7300"/>
            <a:ext cx="2743200" cy="365125"/>
          </a:xfrm>
        </p:spPr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7D1E7DC-3E1E-CD5B-6DA4-BCB005BA86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224" y="1285614"/>
            <a:ext cx="3224506" cy="13597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207F95-EC99-C3CD-705E-7D64CE318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50" y="203069"/>
            <a:ext cx="616817" cy="92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6A5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035444-5882-B376-9B93-20729EA16F15}"/>
              </a:ext>
            </a:extLst>
          </p:cNvPr>
          <p:cNvSpPr/>
          <p:nvPr/>
        </p:nvSpPr>
        <p:spPr>
          <a:xfrm>
            <a:off x="170475" y="184150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BAC44-8B2D-4D8F-8166-F1C1C94C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5D5C-48A4-4CAE-B525-620601981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6574E-2845-44A2-9612-BDB9D1054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46026-7220-4478-9CA6-0046D9A2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90174-F27C-43A7-A076-866D52D4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EE1BB-F4D5-401B-950C-749C9B49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3AD738E-7940-75B1-4877-C030C5A89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050" y="203069"/>
            <a:ext cx="616817" cy="920881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D5A6ECF-97DC-2C12-5D24-B370645F14F9}"/>
              </a:ext>
            </a:extLst>
          </p:cNvPr>
          <p:cNvSpPr/>
          <p:nvPr/>
        </p:nvSpPr>
        <p:spPr>
          <a:xfrm rot="5400000">
            <a:off x="6953168" y="1619168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rgbClr val="AEA6C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ACDB9B8-5BB2-8770-CB53-F8949E287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224" y="1285614"/>
            <a:ext cx="3224506" cy="1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7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6A5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B77733-772B-F7A3-0BED-2A3F0F110DDF}"/>
              </a:ext>
            </a:extLst>
          </p:cNvPr>
          <p:cNvSpPr/>
          <p:nvPr/>
        </p:nvSpPr>
        <p:spPr>
          <a:xfrm>
            <a:off x="170475" y="184150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6A5BA8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26DA644-8E54-019C-C276-9F4F5A108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050" y="203069"/>
            <a:ext cx="616817" cy="920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4F6E38-9641-44F5-BC34-7AA2A5A1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20121-91E5-4ADD-AB7B-6BA270843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E62C6-E9B2-428A-80BF-7691E772F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8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53C-8F8C-4B3B-BF97-DDDA20F45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03F1E-DC4B-447C-8898-1C2E5EA93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8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B9C244-CE11-4FA9-BA63-F575A784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95DC5-CAA1-4401-96B0-65071D5F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10320-7391-4229-8B6F-35ED46C0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E57826D-917B-A13D-16BE-6674C4F60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224" y="1285614"/>
            <a:ext cx="3224506" cy="1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51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6A5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6E8634-D9EA-02EA-D812-8E88AD7C4CCD}"/>
              </a:ext>
            </a:extLst>
          </p:cNvPr>
          <p:cNvSpPr/>
          <p:nvPr/>
        </p:nvSpPr>
        <p:spPr>
          <a:xfrm>
            <a:off x="170475" y="184150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BD72B63-240A-8B28-73A6-C5C630101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050" y="203069"/>
            <a:ext cx="616817" cy="920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2EBA9-B0EF-4A7F-B3DE-BB02350D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6A5BA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NZ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D6BC5-88C8-4F15-8C70-CC6CC67B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0C384-1EA9-4830-8B73-A48390BB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605C2-0493-454B-B7DA-4B0E9F55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5BA8"/>
                </a:solidFill>
              </a:defRPr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BB955B-653C-EF5D-6765-49CF74001C65}"/>
              </a:ext>
            </a:extLst>
          </p:cNvPr>
          <p:cNvSpPr/>
          <p:nvPr/>
        </p:nvSpPr>
        <p:spPr>
          <a:xfrm rot="5400000">
            <a:off x="6953168" y="1619168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rgbClr val="AEA6C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8CCF32-58B6-FFA2-DADC-E80BEA81B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224" y="1285614"/>
            <a:ext cx="3224506" cy="1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8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6A5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9DF43-A197-4AF9-B95E-30D378D6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2E73F-7CF7-49CC-BA86-A588CED5B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46F4D2-009A-DEAE-EDFE-9A4878FFBDED}"/>
              </a:ext>
            </a:extLst>
          </p:cNvPr>
          <p:cNvSpPr/>
          <p:nvPr/>
        </p:nvSpPr>
        <p:spPr>
          <a:xfrm>
            <a:off x="170475" y="184150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A81238A0-A0AE-A1B7-55A5-80E7B0767B3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6A5B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76C536CF-75A1-9AE4-A2AF-20B55AC414A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6A5B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2C9B0-D081-49ED-BA51-A484CA257C66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30" name="Picture 29" descr="A person with her hand on her chin&#10;&#10;Description automatically generated">
            <a:extLst>
              <a:ext uri="{FF2B5EF4-FFF2-40B4-BE49-F238E27FC236}">
                <a16:creationId xmlns:a16="http://schemas.microsoft.com/office/drawing/2014/main" id="{CAF044C1-A444-4745-58AC-6EEE49234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6" y="172933"/>
            <a:ext cx="5782650" cy="6548542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7D44758-8807-6CF4-45E9-45C024207A2D}"/>
              </a:ext>
            </a:extLst>
          </p:cNvPr>
          <p:cNvSpPr/>
          <p:nvPr/>
        </p:nvSpPr>
        <p:spPr>
          <a:xfrm rot="5400000">
            <a:off x="6953168" y="1619168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rgbClr val="AEA6CD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A7F66D-BA28-63A3-FEAA-39687AC102ED}"/>
              </a:ext>
            </a:extLst>
          </p:cNvPr>
          <p:cNvSpPr/>
          <p:nvPr/>
        </p:nvSpPr>
        <p:spPr>
          <a:xfrm>
            <a:off x="0" y="0"/>
            <a:ext cx="6430350" cy="6858000"/>
          </a:xfrm>
          <a:prstGeom prst="rect">
            <a:avLst/>
          </a:prstGeom>
          <a:solidFill>
            <a:srgbClr val="6A5B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971EE-E5C7-8F7F-45C2-3A47D6B3F927}"/>
              </a:ext>
            </a:extLst>
          </p:cNvPr>
          <p:cNvSpPr txBox="1"/>
          <p:nvPr/>
        </p:nvSpPr>
        <p:spPr>
          <a:xfrm>
            <a:off x="393700" y="6131352"/>
            <a:ext cx="6096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© Copyright New Zealand Skills and Education College  2024</a:t>
            </a:r>
            <a:endParaRPr lang="en-NZ" sz="1000" dirty="0"/>
          </a:p>
          <a:p>
            <a:endParaRPr lang="en-NZ" sz="1100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CB1541B5-D60D-A867-8030-06AD249B3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2093605"/>
            <a:ext cx="52578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Thank you.</a:t>
            </a:r>
            <a:endParaRPr lang="en-NZ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05E2DE4-17A8-A1F7-E001-8FB80DA6F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18" y="3101242"/>
            <a:ext cx="3224506" cy="13597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D437F84-90EB-8851-38C6-98AEE6BBAB3E}"/>
              </a:ext>
            </a:extLst>
          </p:cNvPr>
          <p:cNvSpPr txBox="1"/>
          <p:nvPr/>
        </p:nvSpPr>
        <p:spPr>
          <a:xfrm>
            <a:off x="393700" y="5861388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www.nzse.ac.nz | 3033 Great North Road, New Lynn, Auckland, New Zealand</a:t>
            </a:r>
            <a:endParaRPr lang="en-NZ" sz="1100" dirty="0"/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1DF4FC9-C913-262C-BA0A-5CB4109985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72" y="443039"/>
            <a:ext cx="3082494" cy="139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7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3BBB9-6E5C-4FE3-BA9B-DC6A4AD1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3F5B3-8F32-45F0-ACD3-B6C19297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68F9A-0210-45D9-A46E-513C1372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8767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DD97-7373-4636-A61C-44A81445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C94D-572C-4318-A0DA-6531061E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FFE06-3A12-4B78-AC7C-4A068F339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036B1-FD8D-4384-B282-500390CA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14A2C-AC83-49CD-B905-C062F817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890DE-F175-48A2-BB3E-89C0E7B9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0396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89DB-D9E2-4C60-8E2A-485B7E5D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5E7AA-2E3B-47B9-884D-43354B2F5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9164F-6F13-470A-9452-7039044F2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994E-6424-433C-8803-640D1E4C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444B-4F26-48A3-A744-7E1F70D5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A05B5-8D07-47FE-A84E-F2304E04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275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077B-DDBC-4149-A0D4-B9B37BB8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9DEC7-FBBC-49DA-AA3F-EBDFA1C2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70CCF-86E3-4006-B70D-60692F13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74C50-2ECA-4D12-8C0F-41217A7C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8D71D-9579-47F6-86D5-81E2C50B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31373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7D04D-1570-4047-BD75-565962E30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A9385-8FAD-440F-9FD7-2A3A0F2F2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700F3-5907-41AB-896F-516DDE8A3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591CF-ED43-41DD-B9F4-E19B3F1E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6D2E-9645-4260-9F94-A4052CFD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3571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9E916-E06C-4CC6-A6A9-59B9864F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7E36F-A2AC-4F30-96AA-4FC86515D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882F5-F7C7-4451-A39B-E0091ED68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FA854-9177-4F4B-9707-85C8A726AA33}" type="datetimeFigureOut">
              <a:rPr lang="en-NZ" smtClean="0"/>
              <a:t>5/08/2026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8B3A-5B62-4317-A2C9-65CEFA4E7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F4736-8985-4337-A246-D3E410FB2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30B20-5BDC-48E1-9DA6-5DEFA82236B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2765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bonacci_sequenc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91931A-45D7-1499-67FC-375A907A6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040" y="2325733"/>
            <a:ext cx="5024877" cy="62023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GT America Condensed Light" panose="020B0604020202020204" charset="0"/>
              </a:rPr>
              <a:t>Data Structure</a:t>
            </a:r>
            <a:endParaRPr lang="en-NZ" sz="3200" b="1" dirty="0">
              <a:solidFill>
                <a:schemeClr val="bg1"/>
              </a:solidFill>
              <a:latin typeface="GT America Condensed 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90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12B4-05C3-BA97-4195-DE94CD28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A4BE0-C190-0773-8971-B14E7E916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7030A0"/>
                </a:solidFill>
              </a:rPr>
              <a:t>It allows:</a:t>
            </a:r>
          </a:p>
          <a:p>
            <a:pPr lvl="1"/>
            <a:r>
              <a:rPr lang="en-US" sz="2800" dirty="0">
                <a:solidFill>
                  <a:srgbClr val="7030A0"/>
                </a:solidFill>
              </a:rPr>
              <a:t>Programs to store, modify, and retrieve data</a:t>
            </a:r>
          </a:p>
          <a:p>
            <a:pPr lvl="1"/>
            <a:r>
              <a:rPr lang="en-US" sz="2800" dirty="0">
                <a:solidFill>
                  <a:srgbClr val="7030A0"/>
                </a:solidFill>
              </a:rPr>
              <a:t>Comparing the data with others.</a:t>
            </a:r>
          </a:p>
          <a:p>
            <a:pPr lvl="1"/>
            <a:r>
              <a:rPr lang="en-US" sz="2800" dirty="0">
                <a:solidFill>
                  <a:srgbClr val="7030A0"/>
                </a:solidFill>
              </a:rPr>
              <a:t>Some operations based on the data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7030A0"/>
                </a:solidFill>
              </a:rPr>
              <a:t>Built-In and user-defined data structures available in Python</a:t>
            </a:r>
          </a:p>
          <a:p>
            <a:pPr lvl="1"/>
            <a:r>
              <a:rPr lang="en-US" sz="2800" dirty="0">
                <a:solidFill>
                  <a:srgbClr val="7030A0"/>
                </a:solidFill>
              </a:rPr>
              <a:t>Built-In Data Structures are List, Dictionary, Tuple, Set</a:t>
            </a:r>
          </a:p>
          <a:p>
            <a:pPr lvl="1"/>
            <a:r>
              <a:rPr lang="en-US" sz="2800" dirty="0">
                <a:solidFill>
                  <a:srgbClr val="7030A0"/>
                </a:solidFill>
              </a:rPr>
              <a:t>User-defined data structures are Stack, Queue, Tree, Linked List…</a:t>
            </a:r>
          </a:p>
          <a:p>
            <a:pPr marL="0" indent="0">
              <a:buNone/>
            </a:pPr>
            <a:endParaRPr lang="en-NZ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15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What is a List in Python?</a:t>
            </a:r>
          </a:p>
          <a:p>
            <a:pPr marL="0" indent="0">
              <a:buNone/>
            </a:pPr>
            <a:r>
              <a:rPr dirty="0"/>
              <a:t>- Importance of Lists in Python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A collection of elements that can grow and shrink dynamically</a:t>
            </a:r>
          </a:p>
          <a:p>
            <a:pPr marL="0" indent="0">
              <a:buNone/>
            </a:pPr>
            <a:r>
              <a:rPr dirty="0"/>
              <a:t>- Can store different data types (heterogeneous)</a:t>
            </a:r>
          </a:p>
          <a:p>
            <a:pPr marL="0" indent="0">
              <a:buNone/>
            </a:pPr>
            <a:r>
              <a:rPr dirty="0"/>
              <a:t>- Indexed access using </a:t>
            </a:r>
            <a:r>
              <a:rPr b="1" dirty="0"/>
              <a:t>square brackets </a:t>
            </a:r>
            <a:r>
              <a:rPr dirty="0"/>
              <a:t>[]</a:t>
            </a:r>
          </a:p>
          <a:p>
            <a:pPr marL="0" indent="0">
              <a:buNone/>
            </a:pPr>
            <a:r>
              <a:rPr dirty="0"/>
              <a:t>- More flexible than arrays</a:t>
            </a:r>
            <a:r>
              <a:rPr lang="en-NZ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Can store different data types</a:t>
            </a:r>
          </a:p>
          <a:p>
            <a:pPr marL="0" indent="0">
              <a:buNone/>
            </a:pPr>
            <a:r>
              <a:rPr dirty="0"/>
              <a:t>- Can grow or shrink as needed</a:t>
            </a:r>
          </a:p>
          <a:p>
            <a:pPr marL="0" indent="0">
              <a:buNone/>
            </a:pPr>
            <a:r>
              <a:rPr dirty="0"/>
              <a:t>- Flexible: Supports insertion, deletion, and sorting efficiently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Operations - 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/>
              <a:t>Example:</a:t>
            </a: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06184-07A5-3779-0A7C-0D0178E42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24" y="2013135"/>
            <a:ext cx="5807001" cy="1988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396468-866F-58BA-BEF2-BDEA6E55B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23" y="4188804"/>
            <a:ext cx="5772045" cy="891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BF31BF-6C8D-EF7F-F88E-F3CED4023FF1}"/>
              </a:ext>
            </a:extLst>
          </p:cNvPr>
          <p:cNvSpPr txBox="1"/>
          <p:nvPr/>
        </p:nvSpPr>
        <p:spPr>
          <a:xfrm>
            <a:off x="1036320" y="5267510"/>
            <a:ext cx="1068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NZ" sz="2400" dirty="0">
                <a:solidFill>
                  <a:srgbClr val="7030A0"/>
                </a:solidFill>
              </a:rPr>
              <a:t>The append() method adds elements to the end of the list.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NZ" sz="2400" dirty="0">
                <a:solidFill>
                  <a:srgbClr val="7030A0"/>
                </a:solidFill>
              </a:rPr>
              <a:t>Lists support multiple data types, as seen in the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Operations - 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9AB7-793F-B2DD-09AD-0532D51CDC0C}"/>
              </a:ext>
            </a:extLst>
          </p:cNvPr>
          <p:cNvSpPr txBox="1"/>
          <p:nvPr/>
        </p:nvSpPr>
        <p:spPr>
          <a:xfrm>
            <a:off x="1209040" y="5896401"/>
            <a:ext cx="9469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NZ" sz="2400" dirty="0">
                <a:solidFill>
                  <a:srgbClr val="7030A0"/>
                </a:solidFill>
              </a:rPr>
              <a:t>The remove() method deletes the specified element (10) from the list.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NZ" sz="2400" dirty="0">
                <a:solidFill>
                  <a:srgbClr val="7030A0"/>
                </a:solidFill>
              </a:rPr>
              <a:t>If the element does not exist, it will raise a </a:t>
            </a:r>
            <a:r>
              <a:rPr lang="en-NZ" sz="2400" dirty="0" err="1">
                <a:solidFill>
                  <a:srgbClr val="7030A0"/>
                </a:solidFill>
              </a:rPr>
              <a:t>ValueError</a:t>
            </a:r>
            <a:r>
              <a:rPr lang="en-NZ" sz="2400" dirty="0">
                <a:solidFill>
                  <a:srgbClr val="7030A0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DB0B5E-0E87-8A1E-E722-4D80C07D5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818" y="1435949"/>
            <a:ext cx="6279142" cy="4423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FC84-1704-B0BF-8747-7A2DB706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Indexing in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AAD8C-892A-8372-C949-8A729CB5A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What is Indexing?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Indexing refers to accessing elements in a list using their position.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In Python, lists use zero-based indexing, meaning the first element is at index 0.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2384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712C-8026-0036-588C-9C61123A5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Indexing in Lists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D02C7-A758-3919-56E4-30C4F5425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b="1" dirty="0"/>
              <a:t>Accessing Elements by Index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CD672-E9B8-A2DA-AE8E-88A39810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56" y="2439058"/>
            <a:ext cx="6264183" cy="31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1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92BC-6433-EDDD-C058-B7183B4E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05D9-5BAC-4927-0FEF-AB70B0DF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Indexing in Lists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0AB8E-F4EE-837B-F0DA-0D5471DD0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b="1" dirty="0"/>
              <a:t>Using Negative Indexing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B144B-EA97-85F7-20F9-2C5DB616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8"/>
          <a:stretch/>
        </p:blipFill>
        <p:spPr>
          <a:xfrm>
            <a:off x="2537575" y="2371738"/>
            <a:ext cx="7116849" cy="359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79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D6AE-8B8C-67DA-6880-31D19652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D2D7-5779-4306-F9DB-953D49F5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Indexing in Lists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5B7E-BBBD-4378-2A36-3DB067D9E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b="1" dirty="0"/>
              <a:t>Slicing Lists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65C59-74FB-7617-0D3F-F19F25792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738" y="2246505"/>
            <a:ext cx="7382648" cy="351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4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7BD8-87B8-9E6F-6A11-C3FA9AEE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3270-8D7D-9FC8-B9FA-BA25BBCE1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Indexing in Lists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0162-A34B-6275-65B1-D238A9095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b="1" dirty="0"/>
              <a:t>Modifying Elements Using Indexing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61D98-A7D6-0BB6-9A27-5C3A4F905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434"/>
          <a:stretch>
            <a:fillRect/>
          </a:stretch>
        </p:blipFill>
        <p:spPr>
          <a:xfrm>
            <a:off x="1490616" y="2449705"/>
            <a:ext cx="9440764" cy="202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6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E6EC-F8ED-F903-FB4A-621C1597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1176-73B5-E30E-5A38-8B6A6509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Indexing in Lists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61FD2-ABDC-E08A-D816-F5CB7A47F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92799-0A4C-00C5-DB82-F0A559CE6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2308"/>
            <a:ext cx="9312447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0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Lists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 Lists when:</a:t>
            </a:r>
          </a:p>
          <a:p>
            <a:pPr marL="0" indent="0">
              <a:buNone/>
            </a:pPr>
            <a:r>
              <a:rPr dirty="0"/>
              <a:t>- You need flexibility (dynamic size, different data types)</a:t>
            </a:r>
          </a:p>
          <a:p>
            <a:pPr marL="0" indent="0">
              <a:buNone/>
            </a:pPr>
            <a:r>
              <a:rPr dirty="0"/>
              <a:t>- You perform frequent insertions or deletions</a:t>
            </a:r>
          </a:p>
          <a:p>
            <a:pPr marL="0" indent="0">
              <a:buNone/>
            </a:pPr>
            <a:r>
              <a:rPr dirty="0"/>
              <a:t>- You are working with collections of items that change frequently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What is an Array in Python?</a:t>
            </a:r>
          </a:p>
          <a:p>
            <a:pPr marL="0" indent="0">
              <a:buNone/>
            </a:pPr>
            <a:r>
              <a:rPr dirty="0"/>
              <a:t>- Importance of Arrays in programming</a:t>
            </a:r>
          </a:p>
          <a:p>
            <a:pPr marL="0" indent="0">
              <a:buNone/>
            </a:pPr>
            <a:r>
              <a:rPr dirty="0"/>
              <a:t>- Difference between Arrays and Lists in Python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40440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- A collection of elements stored in contiguous memory locations</a:t>
            </a:r>
          </a:p>
          <a:p>
            <a:pPr marL="0" indent="0">
              <a:buNone/>
            </a:pPr>
            <a:r>
              <a:rPr dirty="0"/>
              <a:t>- Fixed size (in most cases)</a:t>
            </a:r>
            <a:r>
              <a:rPr lang="en-NZ" dirty="0"/>
              <a:t>, but not in Python’s array.</a:t>
            </a:r>
            <a:endParaRPr dirty="0"/>
          </a:p>
          <a:p>
            <a:pPr marL="0" indent="0">
              <a:buNone/>
            </a:pPr>
            <a:r>
              <a:rPr dirty="0"/>
              <a:t>- Elements must be of the same data type</a:t>
            </a:r>
          </a:p>
          <a:p>
            <a:pPr marL="0" indent="0">
              <a:buNone/>
            </a:pPr>
            <a:r>
              <a:rPr dirty="0"/>
              <a:t>- Indexed access using square brackets []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Creating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B14C3-841D-442E-207D-9EEB6CD52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760" y="1951038"/>
            <a:ext cx="7427032" cy="41005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957CF-5DFA-E7EB-31CA-B03DB270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506" y="2427297"/>
            <a:ext cx="9563428" cy="20034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95F850-6CD9-ADC9-EDC8-645805D12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680" y="1409895"/>
            <a:ext cx="5951736" cy="5082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Arrays in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Us</a:t>
            </a:r>
            <a:r>
              <a:rPr dirty="0"/>
              <a:t>e Arrays when:</a:t>
            </a:r>
          </a:p>
          <a:p>
            <a:pPr marL="0" indent="0">
              <a:buNone/>
            </a:pPr>
            <a:r>
              <a:rPr dirty="0"/>
              <a:t>- You need fast access to elements via indexing</a:t>
            </a:r>
          </a:p>
          <a:p>
            <a:pPr marL="0" indent="0">
              <a:buNone/>
            </a:pPr>
            <a:r>
              <a:rPr dirty="0"/>
              <a:t>- You know the size in advance</a:t>
            </a:r>
          </a:p>
          <a:p>
            <a:pPr marL="0" indent="0">
              <a:buNone/>
            </a:pPr>
            <a:r>
              <a:rPr dirty="0"/>
              <a:t>- Memory allocation needs to be efficient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9D3B-558A-3ABD-ED17-052C0A6E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0" i="0" dirty="0">
                <a:effectLst/>
                <a:latin typeface="Linux Libertine"/>
              </a:rPr>
              <a:t>Fibonacci sequence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4F07-AC9D-BBA4-5145-F02B7FAC0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NZ" dirty="0"/>
              <a:t>Link: </a:t>
            </a:r>
            <a:r>
              <a:rPr lang="en-NZ" dirty="0">
                <a:hlinkClick r:id="rId3"/>
              </a:rPr>
              <a:t>Fibonacci sequence – Wikipedia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34A726-7802-5BAF-979A-038AE1D88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41" y="1887186"/>
            <a:ext cx="10742717" cy="473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01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A27F-ABC2-A51E-5859-B528971C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0" i="0" dirty="0">
                <a:effectLst/>
                <a:latin typeface="Linux Libertine"/>
              </a:rPr>
              <a:t>Fibonacci sequence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4D2E-F64C-CE04-5557-12FFED17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26E16-BBAD-5D6D-C621-CFA7629A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69" y="1934290"/>
            <a:ext cx="5926840" cy="42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38056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of Tech PPT Templat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of Tech PPT Template1</Template>
  <TotalTime>1552</TotalTime>
  <Words>460</Words>
  <Application>Microsoft Office PowerPoint</Application>
  <PresentationFormat>Widescreen</PresentationFormat>
  <Paragraphs>73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GT America Condensed Light</vt:lpstr>
      <vt:lpstr>Linux Libertine</vt:lpstr>
      <vt:lpstr>Poppins</vt:lpstr>
      <vt:lpstr>Poppins Thin</vt:lpstr>
      <vt:lpstr>Wingdings</vt:lpstr>
      <vt:lpstr>School of Tech PPT Template1</vt:lpstr>
      <vt:lpstr>Data Structure</vt:lpstr>
      <vt:lpstr>Data Structures</vt:lpstr>
      <vt:lpstr>Overview of Lists</vt:lpstr>
      <vt:lpstr>What is a List?</vt:lpstr>
      <vt:lpstr>Characteristics of Lists</vt:lpstr>
      <vt:lpstr>List Operations - Adding Elements</vt:lpstr>
      <vt:lpstr>List Operations - Removing Elements</vt:lpstr>
      <vt:lpstr>Indexing in Lists</vt:lpstr>
      <vt:lpstr>How to Use Indexing in Lists</vt:lpstr>
      <vt:lpstr>How to Use Indexing in Lists</vt:lpstr>
      <vt:lpstr>How to Use Indexing in Lists</vt:lpstr>
      <vt:lpstr>How to Use Indexing in Lists</vt:lpstr>
      <vt:lpstr>How to Use Indexing in Lists</vt:lpstr>
      <vt:lpstr>When to Use Lists in Python?</vt:lpstr>
      <vt:lpstr>Overview of Arrays</vt:lpstr>
      <vt:lpstr>What is an Array?</vt:lpstr>
      <vt:lpstr>Creating an Array</vt:lpstr>
      <vt:lpstr>Adding Elements</vt:lpstr>
      <vt:lpstr>Removing Elements</vt:lpstr>
      <vt:lpstr>When to Use Arrays in Python?</vt:lpstr>
      <vt:lpstr>Fibonacci sequence</vt:lpstr>
      <vt:lpstr>Fibonacci sequence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Giang Mai</dc:creator>
  <cp:lastModifiedBy>Giang Mai</cp:lastModifiedBy>
  <cp:revision>16</cp:revision>
  <dcterms:created xsi:type="dcterms:W3CDTF">2025-03-12T21:23:56Z</dcterms:created>
  <dcterms:modified xsi:type="dcterms:W3CDTF">2026-08-05T01:20:01Z</dcterms:modified>
</cp:coreProperties>
</file>